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IN"/>
              <a:t>Class Instance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Instances</c:v>
                </c:pt>
              </c:strCache>
            </c:strRef>
          </c:tx>
          <c:spPr>
            <a:solidFill>
              <a:srgbClr val="00C9FF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PbI₂</c:v>
                </c:pt>
                <c:pt idx="1">
                  <c:v>3D_Pinholes</c:v>
                </c:pt>
                <c:pt idx="2">
                  <c:v>3D-2D_Pinholes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2910</c:v>
                </c:pt>
                <c:pt idx="1">
                  <c:v>3995</c:v>
                </c:pt>
                <c:pt idx="2">
                  <c:v>3661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EA4-44EC-80D2-10FABF881C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>
          <a:solidFill>
            <a:schemeClr val="bg1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AI-Powered Perovskite Solar Cell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 dirty="0">
                <a:solidFill>
                  <a:srgbClr val="00C9FF"/>
                </a:solidFill>
              </a:rPr>
              <a:t>Defect Detection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429000"/>
            <a:ext cx="11430000" cy="2540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6BB0D6-104C-36EA-61B3-4303457FE8DE}"/>
              </a:ext>
            </a:extLst>
          </p:cNvPr>
          <p:cNvSpPr txBox="1"/>
          <p:nvPr/>
        </p:nvSpPr>
        <p:spPr>
          <a:xfrm>
            <a:off x="245807" y="5533595"/>
            <a:ext cx="357341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b="1" dirty="0">
                <a:solidFill>
                  <a:srgbClr val="00C9FF"/>
                </a:solidFill>
              </a:rPr>
              <a:t>Harshkumar Lalakiya – 2507019013</a:t>
            </a:r>
          </a:p>
          <a:p>
            <a:pPr algn="l"/>
            <a:r>
              <a:rPr lang="en-US" b="1" i="0" dirty="0">
                <a:solidFill>
                  <a:srgbClr val="00C9FF"/>
                </a:solidFill>
              </a:rPr>
              <a:t>Sahil Soni - 2507019023</a:t>
            </a:r>
            <a:endParaRPr b="1" i="0" dirty="0">
              <a:solidFill>
                <a:srgbClr val="00C9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49DF70-38FA-B5CB-E384-C3075D2FA72D}"/>
              </a:ext>
            </a:extLst>
          </p:cNvPr>
          <p:cNvSpPr txBox="1"/>
          <p:nvPr/>
        </p:nvSpPr>
        <p:spPr>
          <a:xfrm>
            <a:off x="9443834" y="5489961"/>
            <a:ext cx="235192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b="1" i="0" dirty="0">
                <a:solidFill>
                  <a:srgbClr val="00C9FF"/>
                </a:solidFill>
              </a:rPr>
              <a:t>Guidance of –</a:t>
            </a:r>
          </a:p>
          <a:p>
            <a:pPr algn="l"/>
            <a:r>
              <a:rPr lang="en-US" b="1" dirty="0">
                <a:solidFill>
                  <a:srgbClr val="00C9FF"/>
                </a:solidFill>
              </a:rPr>
              <a:t>Dr. Archana Chaudhari</a:t>
            </a:r>
            <a:endParaRPr b="1" i="0" dirty="0">
              <a:solidFill>
                <a:srgbClr val="00C9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B03400-294C-DEBF-ABC1-AEBC9944C9E3}"/>
              </a:ext>
            </a:extLst>
          </p:cNvPr>
          <p:cNvSpPr txBox="1"/>
          <p:nvPr/>
        </p:nvSpPr>
        <p:spPr>
          <a:xfrm>
            <a:off x="9217865" y="3403600"/>
            <a:ext cx="26052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b="1" dirty="0">
                <a:solidFill>
                  <a:srgbClr val="00C9FF"/>
                </a:solidFill>
              </a:rPr>
              <a:t>Machine Vision(TEE7276)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The Problem — Why This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2540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ab3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4" y="2215979"/>
            <a:ext cx="5454446" cy="292896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0" y="1188720"/>
            <a:ext cx="6126480" cy="1508760"/>
          </a:xfrm>
          <a:prstGeom prst="rect">
            <a:avLst/>
          </a:prstGeom>
          <a:solidFill>
            <a:srgbClr val="142434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97880" y="1298448"/>
            <a:ext cx="5669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0C9FF"/>
                </a:solidFill>
              </a:rPr>
              <a:t>🔬 Manual SEM inspection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709927"/>
            <a:ext cx="5669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Slow, subjective &amp; error-prone at scale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2926080"/>
            <a:ext cx="6126480" cy="1508760"/>
          </a:xfrm>
          <a:prstGeom prst="rect">
            <a:avLst/>
          </a:prstGeom>
          <a:solidFill>
            <a:srgbClr val="142434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97880" y="3035808"/>
            <a:ext cx="5669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FF6B35"/>
                </a:solidFill>
              </a:rPr>
              <a:t>⚡ Efficiency bottleneck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3447287"/>
            <a:ext cx="5669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Micro-defects drop solar efficiency by 30–50%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4663440"/>
            <a:ext cx="6126480" cy="1508760"/>
          </a:xfrm>
          <a:prstGeom prst="rect">
            <a:avLst/>
          </a:prstGeom>
          <a:solidFill>
            <a:srgbClr val="142434"/>
          </a:solidFill>
          <a:ln w="1905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97880" y="4773168"/>
            <a:ext cx="5669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FFC300"/>
                </a:solidFill>
              </a:rPr>
              <a:t>🏭 Industry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5184647"/>
            <a:ext cx="5669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No unified automated QA pipeline for perovskites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5760720"/>
            <a:ext cx="6126480" cy="502920"/>
          </a:xfrm>
          <a:prstGeom prst="rect">
            <a:avLst/>
          </a:prstGeom>
          <a:solidFill>
            <a:srgbClr val="1A334D"/>
          </a:solidFill>
          <a:ln w="1905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2160" y="5788152"/>
            <a:ext cx="5852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</a:rPr>
              <a:t>📊  Global Perovskite PV Market  →  $1.2 Billion by 2030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2540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612880" cy="960120"/>
          </a:xfrm>
          <a:prstGeom prst="rect">
            <a:avLst/>
          </a:prstGeom>
          <a:solidFill>
            <a:srgbClr val="142434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640080" cy="9601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161288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C9FF"/>
                </a:solidFill>
              </a:rPr>
              <a:t>Dual-Mode Annotation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727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Manual canvas drawing + AI-assisted auto-labeling (OpenCV / YOLO / SAM)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11612880" cy="960120"/>
          </a:xfrm>
          <a:prstGeom prst="rect">
            <a:avLst/>
          </a:prstGeom>
          <a:solidFill>
            <a:srgbClr val="14243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2194560"/>
            <a:ext cx="640080" cy="9601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24231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258568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Multi-Model Benchmarking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67004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Train &amp; compare 6 YOLO variants on real SEM perovskite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91839"/>
            <a:ext cx="11612880" cy="960120"/>
          </a:xfrm>
          <a:prstGeom prst="rect">
            <a:avLst/>
          </a:prstGeom>
          <a:solidFill>
            <a:srgbClr val="142434"/>
          </a:solidFill>
          <a:ln w="1905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3291839"/>
            <a:ext cx="640080" cy="96012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3520439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7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Best-in-class mAP50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767327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Achieve highest mAP50 = 0.422 using YOLO11m architecture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389120"/>
            <a:ext cx="11612880" cy="960120"/>
          </a:xfrm>
          <a:prstGeom prst="rect">
            <a:avLst/>
          </a:prstGeom>
          <a:solidFill>
            <a:srgbClr val="142434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4389120"/>
            <a:ext cx="640080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46177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453128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ONNX Real-time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86460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Export to ONNX format; serve via FastAPI with &lt;200ms latency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486400"/>
            <a:ext cx="11612880" cy="960120"/>
          </a:xfrm>
          <a:prstGeom prst="rect">
            <a:avLst/>
          </a:prstGeom>
          <a:solidFill>
            <a:srgbClr val="14243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5486400"/>
            <a:ext cx="640080" cy="960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571500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550408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A855F7"/>
                </a:solidFill>
              </a:rPr>
              <a:t>Full Web Application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96188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Glassmorphic web UI with annotation, training &amp; benchmark tabs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Literature Review — CV Applications &amp; Clustering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2540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840480" cy="5303520"/>
          </a:xfrm>
          <a:prstGeom prst="rect">
            <a:avLst/>
          </a:prstGeom>
          <a:solidFill>
            <a:srgbClr val="142434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3840480" cy="73152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3566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C9FF"/>
                </a:solidFill>
              </a:rPr>
              <a:t>Ultralytics YOLOv8
(Jocher et al., 2023)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35661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One-stage real-time detector.
52.9 mAP on COCO benchmark.
Dominates speed-accuracy tradeoff.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029200"/>
            <a:ext cx="3657600" cy="6858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5074920"/>
            <a:ext cx="347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00C9FF"/>
                </a:solidFill>
              </a:rPr>
              <a:t>→ Baseline for our YOLO family comparison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097280"/>
            <a:ext cx="3840480" cy="5303520"/>
          </a:xfrm>
          <a:prstGeom prst="rect">
            <a:avLst/>
          </a:prstGeom>
          <a:solidFill>
            <a:srgbClr val="14243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097280"/>
            <a:ext cx="384048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234440"/>
            <a:ext cx="3566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Segment Anything (SAM)
(Kirillov et al., 2023)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11680"/>
            <a:ext cx="35661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Zero-shot segmentation via prompt.
ViT-H backbone (630M params).
Generalizes to microscopy images.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5029200"/>
            <a:ext cx="3657600" cy="685800"/>
          </a:xfrm>
          <a:prstGeom prst="rect">
            <a:avLst/>
          </a:prstGeom>
          <a:solidFill>
            <a:srgbClr val="1E2D3D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80" y="5074920"/>
            <a:ext cx="347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2ECC71"/>
                </a:solidFill>
              </a:rPr>
              <a:t>→ Integrated as 3rd auto-label option in our pipeline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097280"/>
            <a:ext cx="3840480" cy="5303520"/>
          </a:xfrm>
          <a:prstGeom prst="rect">
            <a:avLst/>
          </a:prstGeom>
          <a:solidFill>
            <a:srgbClr val="142434"/>
          </a:solidFill>
          <a:ln w="1905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8275320" y="1106424"/>
            <a:ext cx="3840480" cy="7315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49640" y="1234440"/>
            <a:ext cx="3566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</a:rPr>
              <a:t>SEM Defect Clustering
(Kim et al., 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011680"/>
            <a:ext cx="35661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</a:rPr>
              <a:t>k-Means + DBSCAN on 224×224
SEM patch feature vectors.
No labeling needed for grouping.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5024628"/>
            <a:ext cx="3657600" cy="6858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5024628"/>
            <a:ext cx="347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FFC300"/>
                </a:solidFill>
              </a:rPr>
              <a:t>→ Motivated our 224×224 patch splitting strategy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943600"/>
            <a:ext cx="11841480" cy="548640"/>
          </a:xfrm>
          <a:prstGeom prst="rect">
            <a:avLst/>
          </a:prstGeom>
          <a:solidFill>
            <a:srgbClr val="1A0D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C49AFF"/>
                </a:solidFill>
              </a:rPr>
              <a:t>🔍  Research Gap: No unified annotation + training + deployment pipeline specifically for perovskite SEM defects.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Literature Review — Deep Learning Object Detection Architectures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2540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2423160"/>
            <a:ext cx="5943600" cy="1188720"/>
          </a:xfrm>
          <a:prstGeom prst="rect">
            <a:avLst/>
          </a:prstGeom>
          <a:solidFill>
            <a:srgbClr val="14243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49631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CCCCCC"/>
                </a:solidFill>
              </a:rPr>
              <a:t>YOLOv8s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49631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1-Stage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0779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✅ Fast (160 FPS)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907792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6B35"/>
                </a:solidFill>
              </a:rPr>
              <a:t>⚠ Lower mAP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49039"/>
            <a:ext cx="5943600" cy="1188720"/>
          </a:xfrm>
          <a:prstGeom prst="rect">
            <a:avLst/>
          </a:prstGeom>
          <a:solidFill>
            <a:srgbClr val="142434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822191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00C9FF"/>
                </a:solidFill>
              </a:rPr>
              <a:t>YOLO11m 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822191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1-Stage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33671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✅ Fastest on SEM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233671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6B35"/>
                </a:solidFill>
              </a:rPr>
              <a:t>⚠ Best mAP50=0.42</a:t>
            </a:r>
          </a:p>
        </p:txBody>
      </p:sp>
      <p:pic>
        <p:nvPicPr>
          <p:cNvPr id="25" name="Picture 24" descr="yolo1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486400" cy="53035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00800" y="61264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CCCCCC"/>
                </a:solidFill>
              </a:rPr>
              <a:t>YOLO11m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Dataset — Real SEM Perovskite Images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2540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743200" cy="1188720"/>
          </a:xfrm>
          <a:prstGeom prst="rect">
            <a:avLst/>
          </a:prstGeom>
          <a:solidFill>
            <a:srgbClr val="142434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2468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00C9FF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7452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Defect Classes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39" y="1188720"/>
            <a:ext cx="2743200" cy="1188720"/>
          </a:xfrm>
          <a:prstGeom prst="rect">
            <a:avLst/>
          </a:prstGeom>
          <a:solidFill>
            <a:srgbClr val="14243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28999" y="1280160"/>
            <a:ext cx="2468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2ECC71"/>
                </a:solidFill>
              </a:rPr>
              <a:t>224px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9" y="187452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Patch Size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51760"/>
            <a:ext cx="2743200" cy="1188720"/>
          </a:xfrm>
          <a:prstGeom prst="rect">
            <a:avLst/>
          </a:prstGeom>
          <a:solidFill>
            <a:srgbClr val="142434"/>
          </a:solidFill>
          <a:ln w="1905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2743200"/>
            <a:ext cx="2468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FFC300"/>
                </a:solidFill>
              </a:rPr>
              <a:t>3,995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33756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Max Instances (3D_Pinholes)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39" y="2651760"/>
            <a:ext cx="2743200" cy="1188720"/>
          </a:xfrm>
          <a:prstGeom prst="rect">
            <a:avLst/>
          </a:prstGeom>
          <a:solidFill>
            <a:srgbClr val="142434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28999" y="2743200"/>
            <a:ext cx="2468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FF6B35"/>
                </a:solidFill>
              </a:rPr>
              <a:t>3-Way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8999" y="333756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Train / Val / Test Split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615872"/>
              </p:ext>
            </p:extLst>
          </p:nvPr>
        </p:nvGraphicFramePr>
        <p:xfrm>
          <a:off x="6217920" y="1097280"/>
          <a:ext cx="576072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End-to-End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2540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377" y="1321619"/>
            <a:ext cx="6981886" cy="337333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7160" y="5440680"/>
            <a:ext cx="1828800" cy="685800"/>
          </a:xfrm>
          <a:prstGeom prst="rect">
            <a:avLst/>
          </a:prstGeom>
          <a:solidFill>
            <a:srgbClr val="142434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" y="5458968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0C9FF"/>
                </a:solidFill>
              </a:rPr>
              <a:t>📷 SEM
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5486400"/>
            <a:ext cx="228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5440680"/>
            <a:ext cx="1828800" cy="685800"/>
          </a:xfrm>
          <a:prstGeom prst="rect">
            <a:avLst/>
          </a:prstGeom>
          <a:solidFill>
            <a:srgbClr val="142434"/>
          </a:solidFill>
          <a:ln w="1905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48840" y="5458968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C300"/>
                </a:solidFill>
              </a:rPr>
              <a:t>✏️ Annotation
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5486400"/>
            <a:ext cx="228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5440680"/>
            <a:ext cx="1828800" cy="685800"/>
          </a:xfrm>
          <a:prstGeom prst="rect">
            <a:avLst/>
          </a:prstGeom>
          <a:solidFill>
            <a:srgbClr val="14243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0520" y="5458968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🔲 224×224
Patching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5486400"/>
            <a:ext cx="228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5440680"/>
            <a:ext cx="1828800" cy="685800"/>
          </a:xfrm>
          <a:prstGeom prst="rect">
            <a:avLst/>
          </a:prstGeom>
          <a:solidFill>
            <a:srgbClr val="14243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5458968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A855F7"/>
                </a:solidFill>
              </a:rPr>
              <a:t>🤖 YOLO11m
ONNX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5486400"/>
            <a:ext cx="228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80" y="5440680"/>
            <a:ext cx="1828800" cy="685800"/>
          </a:xfrm>
          <a:prstGeom prst="rect">
            <a:avLst/>
          </a:prstGeom>
          <a:solidFill>
            <a:srgbClr val="142434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80" y="5458968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6B35"/>
                </a:solidFill>
              </a:rPr>
              <a:t>🌐 FastAPI
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5486400"/>
            <a:ext cx="228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95560" y="5440680"/>
            <a:ext cx="1828800" cy="685800"/>
          </a:xfrm>
          <a:prstGeom prst="rect">
            <a:avLst/>
          </a:prstGeom>
          <a:solidFill>
            <a:srgbClr val="142434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95560" y="5458968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0C9FF"/>
                </a:solidFill>
              </a:rPr>
              <a:t>📊 Web
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1">
                <a:solidFill>
                  <a:srgbClr val="FF6B35"/>
                </a:solidFill>
              </a:rPr>
              <a:t>↩  Auto-label Feedback Loop (OpenCV / YOLO / SAM)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Methodology — Dual Annotation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2540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5303520" cy="5394960"/>
          </a:xfrm>
          <a:prstGeom prst="rect">
            <a:avLst/>
          </a:prstGeom>
          <a:solidFill>
            <a:srgbClr val="142434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C9FF"/>
                </a:solidFill>
              </a:rPr>
              <a:t>✏️  Manual Annotation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1.  Load SEM image in canvas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04872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2.  Draw bounding box with mouse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72384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3.  Assign defect class label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39896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4.  Coordinate transform to YOLO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07408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5.  Save normalized .txt label 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051560"/>
            <a:ext cx="5943600" cy="5394960"/>
          </a:xfrm>
          <a:prstGeom prst="rect">
            <a:avLst/>
          </a:prstGeom>
          <a:solidFill>
            <a:srgbClr val="142434"/>
          </a:solidFill>
          <a:ln w="1905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1143000"/>
            <a:ext cx="5577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🤖  AI-Assisted Auto-Annotation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783080"/>
            <a:ext cx="5669280" cy="1234440"/>
          </a:xfrm>
          <a:prstGeom prst="rect">
            <a:avLst/>
          </a:prstGeom>
          <a:solidFill>
            <a:srgbClr val="1A2A3A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87452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00C9FF"/>
                </a:solidFill>
              </a:rPr>
              <a:t>OpenCV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86000"/>
            <a:ext cx="5303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Grayscale → CLAHE → Threshold → Contours → YOLO boxes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200400"/>
            <a:ext cx="5669280" cy="1234440"/>
          </a:xfrm>
          <a:prstGeom prst="rect">
            <a:avLst/>
          </a:prstGeom>
          <a:solidFill>
            <a:srgbClr val="1A2A3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329184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YOLO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703320"/>
            <a:ext cx="5303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Model inference → Confidence filter → Write .txt labels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4617720"/>
            <a:ext cx="5669280" cy="1234440"/>
          </a:xfrm>
          <a:prstGeom prst="rect">
            <a:avLst/>
          </a:prstGeom>
          <a:solidFill>
            <a:srgbClr val="1A2A3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47091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A855F7"/>
                </a:solidFill>
              </a:rPr>
              <a:t>SAM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120640"/>
            <a:ext cx="5303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Prompt segmentation → Polygon → Bounding box extraction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603504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FF6B35"/>
                </a:solidFill>
              </a:rPr>
              <a:t>Override toggle: Append OR Overwrite existing labels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Methodology — Model Training &amp; ONNX Export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2540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114800" cy="5029200"/>
          </a:xfrm>
          <a:prstGeom prst="rect">
            <a:avLst/>
          </a:prstGeom>
          <a:solidFill>
            <a:srgbClr val="14243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749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⚙️  Training Config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Epochs: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7373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6771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Image Size: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267712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224 × 224 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98063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Batch: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798063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Auto (GPU)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28415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GPU: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328415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NVIDIA RTX 3050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58768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Framework: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8587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Ultralytics YOLO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8912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Export: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3891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ONNX (best.onnx)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19471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Serving: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919471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FastAPI + uvicorn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449823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Latency: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449823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&lt; 200 ms (ONNX)</a:t>
            </a:r>
          </a:p>
        </p:txBody>
      </p:sp>
      <p:pic>
        <p:nvPicPr>
          <p:cNvPr id="23" name="Picture 22" descr="sensors-25-02270-g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7223760" cy="5029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663440" y="6263640"/>
            <a:ext cx="7223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CCCCCC"/>
                </a:solidFill>
              </a:rPr>
              <a:t>YOLO11m Backbone — C3k2 + C2PSA blocks (MDPI Sensors 2025)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Results — Multi-Model Performance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2540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13232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1097280"/>
            <a:ext cx="4206240" cy="731520"/>
          </a:xfrm>
          <a:prstGeom prst="rect">
            <a:avLst/>
          </a:prstGeom>
          <a:solidFill>
            <a:srgbClr val="142434"/>
          </a:solidFill>
          <a:ln w="1905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1261872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</a:rPr>
              <a:t>#1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26187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YOLO11m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261872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 i="0">
                <a:solidFill>
                  <a:srgbClr val="FFC300"/>
                </a:solidFill>
              </a:rPr>
              <a:t>mAP50-95: 0.1905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965960"/>
            <a:ext cx="4206240" cy="731520"/>
          </a:xfrm>
          <a:prstGeom prst="rect">
            <a:avLst/>
          </a:prstGeom>
          <a:solidFill>
            <a:srgbClr val="142434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18120" y="2130552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C9FF"/>
                </a:solidFill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13055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YOLO11s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2130552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 i="0">
                <a:solidFill>
                  <a:srgbClr val="00C9FF"/>
                </a:solidFill>
              </a:rPr>
              <a:t>mAP50-95: 0.1734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834639"/>
            <a:ext cx="4206240" cy="731520"/>
          </a:xfrm>
          <a:prstGeom prst="rect">
            <a:avLst/>
          </a:prstGeom>
          <a:solidFill>
            <a:srgbClr val="14243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18120" y="2999231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#3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999231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YOLOv8s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999231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 i="0">
                <a:solidFill>
                  <a:srgbClr val="2ECC71"/>
                </a:solidFill>
              </a:rPr>
              <a:t>mAP50-95: 0.1629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3703320"/>
            <a:ext cx="4206240" cy="731520"/>
          </a:xfrm>
          <a:prstGeom prst="rect">
            <a:avLst/>
          </a:prstGeom>
          <a:solidFill>
            <a:srgbClr val="14243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18120" y="3867912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CCCCCC"/>
                </a:solidFill>
              </a:rPr>
              <a:t>#4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86791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YOLO11l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867912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 i="0">
                <a:solidFill>
                  <a:srgbClr val="CCCCCC"/>
                </a:solidFill>
              </a:rPr>
              <a:t>mAP50-95: 0.1602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4572000"/>
            <a:ext cx="4206240" cy="731520"/>
          </a:xfrm>
          <a:prstGeom prst="rect">
            <a:avLst/>
          </a:prstGeom>
          <a:solidFill>
            <a:srgbClr val="14243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18120" y="4736592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CCCCCC"/>
                </a:solidFill>
              </a:rPr>
              <a:t>#5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73659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YOLOv8m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4736592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 i="0">
                <a:solidFill>
                  <a:srgbClr val="CCCCCC"/>
                </a:solidFill>
              </a:rPr>
              <a:t>mAP50-95: 0.1535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5440680"/>
            <a:ext cx="4206240" cy="731520"/>
          </a:xfrm>
          <a:prstGeom prst="rect">
            <a:avLst/>
          </a:prstGeom>
          <a:solidFill>
            <a:srgbClr val="142434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18120" y="5605272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#6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605272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YOLOv8l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5605272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 i="0">
                <a:solidFill>
                  <a:srgbClr val="FF6B35"/>
                </a:solidFill>
              </a:rPr>
              <a:t>mAP50-95: 0.0891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6400800"/>
            <a:ext cx="4206240" cy="457200"/>
          </a:xfrm>
          <a:prstGeom prst="rect">
            <a:avLst/>
          </a:prstGeom>
          <a:solidFill>
            <a:srgbClr val="1A330D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63840" y="6419088"/>
            <a:ext cx="3840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🏆  YOLO11m = Best on all metrics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Results — Precision-Recall &amp; Training Curves (YOLO11m)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2540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76072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852160"/>
            <a:ext cx="5760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CCCCCC"/>
                </a:solidFill>
              </a:rPr>
              <a:t>Precision-Recall Bubble Chart
(bubble size = mAP50-95)</a:t>
            </a:r>
          </a:p>
        </p:txBody>
      </p:sp>
      <p:pic>
        <p:nvPicPr>
          <p:cNvPr id="7" name="Picture 6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79" y="1097280"/>
            <a:ext cx="5967197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85216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CCCCCC"/>
                </a:solidFill>
              </a:rPr>
              <a:t>Training &amp; Validation Loss / Metric Curves (50 epochs)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Results — Confusion Matrix Analysis (YOLO11m)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2540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13232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0" y="1371600"/>
            <a:ext cx="4114800" cy="1280160"/>
          </a:xfrm>
          <a:prstGeom prst="rect">
            <a:avLst/>
          </a:prstGeom>
          <a:solidFill>
            <a:srgbClr val="0D2A1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09560" y="14630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✅  Strong Detections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1874519"/>
            <a:ext cx="3840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3D_Pinholes:  229 correct
3D-2D_Pinholes: 260 correct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2834640"/>
            <a:ext cx="4114800" cy="1280160"/>
          </a:xfrm>
          <a:prstGeom prst="rect">
            <a:avLst/>
          </a:prstGeom>
          <a:solidFill>
            <a:srgbClr val="2A0D00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09560" y="29260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⚠️  Key Weakness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3337560"/>
            <a:ext cx="3840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Background FPs: 598 total
PbI₂ ↔ Background confusion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297680"/>
            <a:ext cx="4114800" cy="914400"/>
          </a:xfrm>
          <a:prstGeom prst="rect">
            <a:avLst/>
          </a:prstGeom>
          <a:solidFill>
            <a:srgbClr val="142434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9560" y="4389120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C9FF"/>
                </a:solidFill>
              </a:rPr>
              <a:t>💡  Fix: Add augmentation &amp;
     per-class diagnosis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Live Web Application — FastAPI + ONNX Powered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2540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ab1_det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0"/>
            <a:ext cx="5998463" cy="3931920"/>
          </a:xfrm>
          <a:prstGeom prst="rect">
            <a:avLst/>
          </a:prstGeom>
        </p:spPr>
      </p:pic>
      <p:pic>
        <p:nvPicPr>
          <p:cNvPr id="6" name="Picture 5" descr="tab4_benchmark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490" y="1115568"/>
            <a:ext cx="5876446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07492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1">
                <a:solidFill>
                  <a:srgbClr val="CCCCCC"/>
                </a:solidFill>
              </a:rPr>
              <a:t>Detect Defects Tab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074920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1">
                <a:solidFill>
                  <a:srgbClr val="CCCCCC"/>
                </a:solidFill>
              </a:rPr>
              <a:t>Model Benchmark Tab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577840"/>
            <a:ext cx="2834640" cy="548640"/>
          </a:xfrm>
          <a:prstGeom prst="rect">
            <a:avLst/>
          </a:prstGeom>
          <a:solidFill>
            <a:srgbClr val="142434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562356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C9FF"/>
                </a:solidFill>
              </a:rPr>
              <a:t>⚡ &lt; 200ms ONNX Inference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1" y="5577840"/>
            <a:ext cx="2834640" cy="548640"/>
          </a:xfrm>
          <a:prstGeom prst="rect">
            <a:avLst/>
          </a:prstGeom>
          <a:solidFill>
            <a:srgbClr val="142434"/>
          </a:solidFill>
          <a:ln w="1905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10711" y="562356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</a:rPr>
              <a:t>🌙 Light / Dark Mode Toggle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2783" y="5577840"/>
            <a:ext cx="2834640" cy="548640"/>
          </a:xfrm>
          <a:prstGeom prst="rect">
            <a:avLst/>
          </a:prstGeom>
          <a:solidFill>
            <a:srgbClr val="14243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9943" y="562356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✏️ Canvas Annotation + AI Overlay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72016" y="5577840"/>
            <a:ext cx="2834640" cy="548640"/>
          </a:xfrm>
          <a:prstGeom prst="rect">
            <a:avLst/>
          </a:prstGeom>
          <a:solidFill>
            <a:srgbClr val="14243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09176" y="562356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</a:rPr>
              <a:t>📊 Live Model Benchmark Viewer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Critical Evaluation — Strengths vs.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2540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577840" cy="5029200"/>
          </a:xfrm>
          <a:prstGeom prst="rect">
            <a:avLst/>
          </a:prstGeom>
          <a:solidFill>
            <a:srgbClr val="0D2A1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</a:rPr>
              <a:t>✅  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212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› Modular pipeline: annotation → training →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5212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› ONNX export: fast inference without PyTorch at 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5212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› Dual annotation: Manual + 3 AI-assisted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60520"/>
            <a:ext cx="5212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› Real SEM data (not synthetic) — domain-authentic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5212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› Full web UI with benchmark &amp; comparison tabs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097280"/>
            <a:ext cx="5577840" cy="5029200"/>
          </a:xfrm>
          <a:prstGeom prst="rect">
            <a:avLst/>
          </a:prstGeom>
          <a:solidFill>
            <a:srgbClr val="2A1200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18872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FF6B35"/>
                </a:solidFill>
              </a:rPr>
              <a:t>⚠️ 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5212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› mAP50-95 = 0.19 — moderate (needs more data)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06040"/>
            <a:ext cx="5212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› 224×224 patches lose spatial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83280"/>
            <a:ext cx="5212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› High background false-positive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160520"/>
            <a:ext cx="5212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› No augmentation pipeline implemented yet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937760"/>
            <a:ext cx="5212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› App path mismatch for metrics display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00C9FF"/>
                </a:solidFill>
              </a:rPr>
              <a:t>Conclusion &amp; Future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2540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303520" cy="5120640"/>
          </a:xfrm>
          <a:prstGeom prst="rect">
            <a:avLst/>
          </a:prstGeom>
          <a:solidFill>
            <a:srgbClr val="142434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C9FF"/>
                </a:solidFill>
              </a:rPr>
              <a:t>📌  Key Conclusions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029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🏆  YOLO11m outperforms all 5 YOLO variants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5029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🔧  Full annotation → training → deploy pipeline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5029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📡  ONNX server runs reliably on RTX 3050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34840"/>
            <a:ext cx="5029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🖊️  Dual-mode annotation accelerates labeling by ~3x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03520"/>
            <a:ext cx="5029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🌐  Web UI validated for lab-scale real-world 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097280"/>
            <a:ext cx="5943600" cy="5120640"/>
          </a:xfrm>
          <a:prstGeom prst="rect">
            <a:avLst/>
          </a:prstGeom>
          <a:solidFill>
            <a:srgbClr val="142434"/>
          </a:solidFill>
          <a:ln w="1905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1188720"/>
            <a:ext cx="5577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🚀  Future Work Roadmap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920240"/>
            <a:ext cx="45720" cy="68580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874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C9FF"/>
                </a:solidFill>
              </a:rPr>
              <a:t>Phase 1: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4028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Image augmentation (flips, blur, contrast jitter)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926080"/>
            <a:ext cx="45720" cy="685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2880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Phase 2: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2461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SAM polygon segmentation labels for all classes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3931920"/>
            <a:ext cx="45720" cy="6858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</a:rPr>
              <a:t>Phase 3: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25196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Cloud deployment with GPU auto-scaling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4937760"/>
            <a:ext cx="4572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48920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Phase 4: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25780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Real-time SEM microscope video stream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887</Words>
  <Application>Microsoft Office PowerPoint</Application>
  <PresentationFormat>Custom</PresentationFormat>
  <Paragraphs>174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Sahil Soni</cp:lastModifiedBy>
  <cp:revision>7</cp:revision>
  <dcterms:created xsi:type="dcterms:W3CDTF">2013-01-27T09:14:16Z</dcterms:created>
  <dcterms:modified xsi:type="dcterms:W3CDTF">2026-04-29T05:21:30Z</dcterms:modified>
  <cp:category/>
</cp:coreProperties>
</file>